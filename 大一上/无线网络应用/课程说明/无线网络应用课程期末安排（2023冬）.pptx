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4" r:id="rId2"/>
    <p:sldId id="265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275" y="-2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63FFD-BC7E-4381-BA84-31D7E131E85D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3D9F3-A24E-4A38-B396-B652CB2189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67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因为大作业设计有自己想法及改进创新的同学也可获得相应的加分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042B-E6ED-4476-9B26-0EDF25A71735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217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EB3D-50B6-4A94-B99D-2418609D65B1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98A05-4152-484E-9505-A2AD1ABB00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EB3D-50B6-4A94-B99D-2418609D65B1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98A05-4152-484E-9505-A2AD1ABB00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EB3D-50B6-4A94-B99D-2418609D65B1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98A05-4152-484E-9505-A2AD1ABB00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EB3D-50B6-4A94-B99D-2418609D65B1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98A05-4152-484E-9505-A2AD1ABB00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EB3D-50B6-4A94-B99D-2418609D65B1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98A05-4152-484E-9505-A2AD1ABB00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EB3D-50B6-4A94-B99D-2418609D65B1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98A05-4152-484E-9505-A2AD1ABB00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EB3D-50B6-4A94-B99D-2418609D65B1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98A05-4152-484E-9505-A2AD1ABB00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EB3D-50B6-4A94-B99D-2418609D65B1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98A05-4152-484E-9505-A2AD1ABB00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EB3D-50B6-4A94-B99D-2418609D65B1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98A05-4152-484E-9505-A2AD1ABB00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EB3D-50B6-4A94-B99D-2418609D65B1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98A05-4152-484E-9505-A2AD1ABB00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EB3D-50B6-4A94-B99D-2418609D65B1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98A05-4152-484E-9505-A2AD1ABB00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1EB3D-50B6-4A94-B99D-2418609D65B1}" type="datetimeFigureOut">
              <a:rPr lang="zh-CN" altLang="en-US" smtClean="0"/>
              <a:pPr/>
              <a:t>2023/12/27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98A05-4152-484E-9505-A2AD1ABB00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2000" y="180000"/>
            <a:ext cx="7920000" cy="8640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关于期末在线考试</a:t>
            </a:r>
            <a:endParaRPr lang="zh-CN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1080000"/>
            <a:ext cx="9144000" cy="3170099"/>
          </a:xfrm>
        </p:spPr>
        <p:txBody>
          <a:bodyPr>
            <a:spAutoFit/>
          </a:bodyPr>
          <a:lstStyle/>
          <a:p>
            <a:pPr algn="just">
              <a:lnSpc>
                <a:spcPts val="4000"/>
              </a:lnSpc>
              <a:spcBef>
                <a:spcPts val="0"/>
              </a:spcBef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itchFamily="18" charset="0"/>
              </a:rPr>
              <a:t>1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、考试时段：</a:t>
            </a:r>
            <a:endParaRPr lang="en-US" altLang="zh-CN" sz="2400" b="1" dirty="0" smtClean="0">
              <a:solidFill>
                <a:schemeClr val="tx1"/>
              </a:solidFill>
              <a:latin typeface="Times New Roman" pitchFamily="18" charset="0"/>
            </a:endParaRPr>
          </a:p>
          <a:p>
            <a:pPr marL="702900" indent="-342900" algn="just">
              <a:lnSpc>
                <a:spcPts val="4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itchFamily="18" charset="0"/>
              </a:rPr>
              <a:t>2023-12-30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（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周六）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itchFamily="18" charset="0"/>
              </a:rPr>
              <a:t>8:00  ~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itchFamily="18" charset="0"/>
              </a:rPr>
              <a:t>2023-12-31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（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周日）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itchFamily="18" charset="0"/>
              </a:rPr>
              <a:t>23:00</a:t>
            </a:r>
          </a:p>
          <a:p>
            <a:pPr algn="just">
              <a:lnSpc>
                <a:spcPts val="4000"/>
              </a:lnSpc>
              <a:spcBef>
                <a:spcPts val="0"/>
              </a:spcBef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itchFamily="18" charset="0"/>
              </a:rPr>
              <a:t>2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、考试内容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  <a:sym typeface="Wingdings" pitchFamily="2" charset="2"/>
              </a:rPr>
              <a:t>：</a:t>
            </a:r>
            <a:endParaRPr lang="en-US" altLang="zh-CN" sz="2400" b="1" dirty="0" smtClean="0">
              <a:solidFill>
                <a:schemeClr val="tx1"/>
              </a:solidFill>
              <a:latin typeface="Times New Roman" pitchFamily="18" charset="0"/>
              <a:sym typeface="Wingdings" pitchFamily="2" charset="2"/>
            </a:endParaRPr>
          </a:p>
          <a:p>
            <a:pPr marL="702900" indent="-342900" algn="just">
              <a:lnSpc>
                <a:spcPts val="4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课程反馈（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itchFamily="18" charset="0"/>
              </a:rPr>
              <a:t>30min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），完成此项才能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</a:rPr>
              <a:t>进行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“期末考试”，以及获得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</a:rPr>
              <a:t>思科在线课程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的“结业证书”与“荣誉信”。</a:t>
            </a:r>
            <a:endParaRPr lang="en-US" altLang="zh-CN" sz="2400" b="1" dirty="0" smtClean="0">
              <a:solidFill>
                <a:schemeClr val="tx1"/>
              </a:solidFill>
              <a:latin typeface="Times New Roman" pitchFamily="18" charset="0"/>
            </a:endParaRPr>
          </a:p>
          <a:p>
            <a:pPr marL="702900" indent="-342900" algn="just">
              <a:lnSpc>
                <a:spcPts val="4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期末考试占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</a:rPr>
              <a:t>课程总成绩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的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itchFamily="18" charset="0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</a:rPr>
              <a:t>0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itchFamily="18" charset="0"/>
              </a:rPr>
              <a:t>%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</a:rPr>
              <a:t>（只能考一次！）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itchFamily="18" charset="0"/>
              </a:rPr>
              <a:t>。</a:t>
            </a:r>
            <a:endParaRPr lang="en-US" altLang="zh-CN" sz="2400" b="1" dirty="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520000" y="4320000"/>
            <a:ext cx="4104000" cy="2338889"/>
            <a:chOff x="2520000" y="4320000"/>
            <a:chExt cx="4104000" cy="2338889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0000" y="4320000"/>
              <a:ext cx="4104000" cy="2338889"/>
            </a:xfrm>
            <a:prstGeom prst="rect">
              <a:avLst/>
            </a:prstGeom>
            <a:noFill/>
            <a:ln w="9525">
              <a:solidFill>
                <a:schemeClr val="tx1">
                  <a:lumMod val="95000"/>
                  <a:lumOff val="5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标注 3"/>
            <p:cNvSpPr/>
            <p:nvPr/>
          </p:nvSpPr>
          <p:spPr>
            <a:xfrm>
              <a:off x="4392000" y="4824000"/>
              <a:ext cx="2088232" cy="504056"/>
            </a:xfrm>
            <a:prstGeom prst="wedgeRoundRectCallout">
              <a:avLst>
                <a:gd name="adj1" fmla="val -75121"/>
                <a:gd name="adj2" fmla="val 6037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先完成课程反馈</a:t>
              </a:r>
              <a:endParaRPr lang="zh-CN" altLang="en-US" dirty="0"/>
            </a:p>
          </p:txBody>
        </p:sp>
        <p:sp>
          <p:nvSpPr>
            <p:cNvPr id="6" name="圆角矩形标注 5"/>
            <p:cNvSpPr/>
            <p:nvPr/>
          </p:nvSpPr>
          <p:spPr>
            <a:xfrm>
              <a:off x="4392000" y="5580000"/>
              <a:ext cx="2088232" cy="504056"/>
            </a:xfrm>
            <a:prstGeom prst="wedgeRoundRectCallout">
              <a:avLst>
                <a:gd name="adj1" fmla="val -75121"/>
                <a:gd name="adj2" fmla="val 6037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再</a:t>
              </a:r>
              <a:r>
                <a:rPr lang="zh-CN" altLang="en-US" dirty="0" smtClean="0"/>
                <a:t>完成期末考试</a:t>
              </a:r>
              <a:endParaRPr lang="zh-CN" altLang="en-US" dirty="0"/>
            </a:p>
          </p:txBody>
        </p:sp>
      </p:grpSp>
    </p:spTree>
  </p:cSld>
  <p:clrMapOvr>
    <a:masterClrMapping/>
  </p:clrMapOvr>
  <p:transition advTm="20468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60000"/>
            <a:ext cx="9144000" cy="5170646"/>
          </a:xfrm>
        </p:spPr>
        <p:txBody>
          <a:bodyPr>
            <a:spAutoFit/>
          </a:bodyPr>
          <a:lstStyle/>
          <a:p>
            <a:pPr marL="432000" indent="-432000" algn="just" eaLnBrk="1" hangingPunct="1">
              <a:lnSpc>
                <a:spcPts val="44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实验完成情况：登记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次实验，每次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分，共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10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分。</a:t>
            </a:r>
            <a:endParaRPr lang="en-US" altLang="zh-CN" sz="2400" b="1" dirty="0" smtClean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432000" indent="-432000" algn="just">
              <a:lnSpc>
                <a:spcPts val="44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补充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选做实验：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完成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3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个补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选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实验，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共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分（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2024-1-4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）</a:t>
            </a:r>
            <a:endParaRPr lang="en-US" altLang="zh-CN" sz="2400" b="1" dirty="0" smtClean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432000" indent="-432000" algn="just">
              <a:lnSpc>
                <a:spcPts val="44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实验总结报告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：满分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20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分，截止时间（</a:t>
            </a:r>
            <a:r>
              <a:rPr lang="en-US" altLang="zh-CN" sz="24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2023-12-24</a:t>
            </a: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晚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23:00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）。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</a:endParaRPr>
          </a:p>
          <a:p>
            <a:pPr marL="432000" indent="-432000" algn="just">
              <a:lnSpc>
                <a:spcPts val="44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完成实验测试题：满分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40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分，截止时间（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2023-12-31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晚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23:00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）。</a:t>
            </a:r>
            <a:endParaRPr lang="en-US" altLang="zh-CN" sz="2400" b="1" dirty="0" smtClean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432000" indent="-432000" algn="just">
              <a:lnSpc>
                <a:spcPts val="44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完成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线上模块</a:t>
            </a:r>
            <a:r>
              <a:rPr lang="en-US" altLang="zh-CN" sz="24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1-3</a:t>
            </a: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：基本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网络连接和通信考试</a:t>
            </a: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。≥ 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80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分得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5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分， 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60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分 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~ 80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分得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3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分</a:t>
            </a:r>
            <a:r>
              <a:rPr lang="zh-CN" altLang="en-US" sz="24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</a:rPr>
              <a:t>。</a:t>
            </a:r>
            <a:endParaRPr lang="en-US" altLang="zh-CN" sz="24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</a:endParaRPr>
          </a:p>
          <a:p>
            <a:pPr marL="432000" indent="-432000" algn="just">
              <a:lnSpc>
                <a:spcPts val="44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期末在线考试或大作业二选一，满分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20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分。</a:t>
            </a:r>
            <a:endParaRPr lang="en-US" altLang="zh-CN" sz="2400" b="1" dirty="0" smtClean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0" indent="432000" algn="just">
              <a:lnSpc>
                <a:spcPts val="4400"/>
              </a:lnSpc>
              <a:spcBef>
                <a:spcPts val="0"/>
              </a:spcBef>
              <a:buNone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在线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考试时间：</a:t>
            </a:r>
            <a:r>
              <a:rPr lang="en-US" altLang="zh-CN" sz="2400" b="1" dirty="0" smtClean="0">
                <a:latin typeface="Times New Roman" pitchFamily="18" charset="0"/>
              </a:rPr>
              <a:t>2023-12-30 </a:t>
            </a:r>
            <a:r>
              <a:rPr lang="zh-CN" altLang="en-US" sz="2400" b="1" dirty="0" smtClean="0">
                <a:latin typeface="Times New Roman" pitchFamily="18" charset="0"/>
              </a:rPr>
              <a:t>早 </a:t>
            </a:r>
            <a:r>
              <a:rPr lang="en-US" altLang="zh-CN" sz="2400" b="1" dirty="0" smtClean="0">
                <a:latin typeface="Times New Roman" pitchFamily="18" charset="0"/>
              </a:rPr>
              <a:t>8:00  </a:t>
            </a:r>
            <a:r>
              <a:rPr lang="en-US" altLang="zh-CN" sz="2400" b="1" dirty="0">
                <a:latin typeface="Times New Roman" pitchFamily="18" charset="0"/>
              </a:rPr>
              <a:t>~  </a:t>
            </a:r>
            <a:r>
              <a:rPr lang="en-US" altLang="zh-CN" sz="2400" b="1" dirty="0" smtClean="0">
                <a:latin typeface="Times New Roman" pitchFamily="18" charset="0"/>
              </a:rPr>
              <a:t>2023-12-31 </a:t>
            </a:r>
            <a:r>
              <a:rPr lang="zh-CN" altLang="en-US" sz="2400" b="1" dirty="0" smtClean="0">
                <a:latin typeface="Times New Roman" pitchFamily="18" charset="0"/>
              </a:rPr>
              <a:t>晚 </a:t>
            </a:r>
            <a:r>
              <a:rPr lang="en-US" altLang="zh-CN" sz="2400" b="1" dirty="0" smtClean="0">
                <a:latin typeface="Times New Roman" pitchFamily="18" charset="0"/>
              </a:rPr>
              <a:t>23:00</a:t>
            </a:r>
            <a:endParaRPr lang="en-US" altLang="zh-CN" sz="2400" b="1" dirty="0">
              <a:latin typeface="Times New Roman" pitchFamily="18" charset="0"/>
            </a:endParaRPr>
          </a:p>
          <a:p>
            <a:pPr marL="0" indent="432000" algn="just">
              <a:lnSpc>
                <a:spcPts val="4400"/>
              </a:lnSpc>
              <a:spcBef>
                <a:spcPts val="0"/>
              </a:spcBef>
              <a:buNone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大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作业截止时间：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2024-1-7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晚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23:00</a:t>
            </a:r>
            <a:endParaRPr lang="en-US" altLang="zh-CN" sz="2400" b="1" dirty="0">
              <a:solidFill>
                <a:srgbClr val="0066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4514" name="Rectangle 6"/>
          <p:cNvSpPr>
            <a:spLocks noGrp="1" noChangeArrowheads="1"/>
          </p:cNvSpPr>
          <p:nvPr>
            <p:ph type="title"/>
          </p:nvPr>
        </p:nvSpPr>
        <p:spPr>
          <a:xfrm>
            <a:off x="612000" y="540000"/>
            <a:ext cx="7920000" cy="584775"/>
          </a:xfrm>
        </p:spPr>
        <p:txBody>
          <a:bodyPr>
            <a:spAutoFit/>
          </a:bodyPr>
          <a:lstStyle/>
          <a:p>
            <a:r>
              <a:rPr lang="zh-CN" altLang="en-US" sz="3200" b="1" dirty="0">
                <a:latin typeface="Arial" charset="0"/>
              </a:rPr>
              <a:t>本课程</a:t>
            </a:r>
            <a:r>
              <a:rPr lang="zh-CN" altLang="en-US" sz="3200" b="1" dirty="0" smtClean="0">
                <a:latin typeface="Arial" charset="0"/>
              </a:rPr>
              <a:t>的成绩构成</a:t>
            </a:r>
            <a:endParaRPr lang="zh-CN" altLang="en-US" sz="3200" b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64357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224</Words>
  <Application>Microsoft Office PowerPoint</Application>
  <PresentationFormat>全屏显示(4:3)</PresentationFormat>
  <Paragraphs>19</Paragraphs>
  <Slides>2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关于期末在线考试</vt:lpstr>
      <vt:lpstr>本课程的成绩构成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课前通知</dc:title>
  <dc:creator>dbc</dc:creator>
  <cp:lastModifiedBy>CHC</cp:lastModifiedBy>
  <cp:revision>101</cp:revision>
  <dcterms:created xsi:type="dcterms:W3CDTF">2015-09-24T00:20:48Z</dcterms:created>
  <dcterms:modified xsi:type="dcterms:W3CDTF">2023-12-27T06:35:12Z</dcterms:modified>
</cp:coreProperties>
</file>